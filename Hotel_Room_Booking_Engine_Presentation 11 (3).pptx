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09A847-9470-4CC0-B9A7-1E6E999EBEB5}" v="7" dt="2026-06-05T09:50:54.6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an saii" userId="2ed84450487bf534" providerId="LiveId" clId="{7C0A16CD-D1A1-47E0-91A7-7842440A4866}"/>
    <pc:docChg chg="undo custSel modSld">
      <pc:chgData name="charan saii" userId="2ed84450487bf534" providerId="LiveId" clId="{7C0A16CD-D1A1-47E0-91A7-7842440A4866}" dt="2026-06-05T09:54:31.866" v="186" actId="20577"/>
      <pc:docMkLst>
        <pc:docMk/>
      </pc:docMkLst>
      <pc:sldChg chg="modSp mod">
        <pc:chgData name="charan saii" userId="2ed84450487bf534" providerId="LiveId" clId="{7C0A16CD-D1A1-47E0-91A7-7842440A4866}" dt="2026-06-05T09:54:31.866" v="186" actId="20577"/>
        <pc:sldMkLst>
          <pc:docMk/>
          <pc:sldMk cId="0" sldId="286"/>
        </pc:sldMkLst>
        <pc:spChg chg="mod">
          <ac:chgData name="charan saii" userId="2ed84450487bf534" providerId="LiveId" clId="{7C0A16CD-D1A1-47E0-91A7-7842440A4866}" dt="2026-06-05T09:54:31.866" v="186" actId="20577"/>
          <ac:spMkLst>
            <pc:docMk/>
            <pc:sldMk cId="0" sldId="286"/>
            <ac:spMk id="3" creationId="{00000000-0000-0000-0000-000000000000}"/>
          </ac:spMkLst>
        </pc:spChg>
      </pc:sldChg>
      <pc:sldChg chg="addSp delSp modSp mod">
        <pc:chgData name="charan saii" userId="2ed84450487bf534" providerId="LiveId" clId="{7C0A16CD-D1A1-47E0-91A7-7842440A4866}" dt="2026-06-05T09:49:35.595" v="6" actId="1035"/>
        <pc:sldMkLst>
          <pc:docMk/>
          <pc:sldMk cId="0" sldId="320"/>
        </pc:sldMkLst>
        <pc:spChg chg="add mod">
          <ac:chgData name="charan saii" userId="2ed84450487bf534" providerId="LiveId" clId="{7C0A16CD-D1A1-47E0-91A7-7842440A4866}" dt="2026-06-05T09:49:27.046" v="2" actId="27636"/>
          <ac:spMkLst>
            <pc:docMk/>
            <pc:sldMk cId="0" sldId="320"/>
            <ac:spMk id="3" creationId="{42DCCF24-6C57-4CB6-5822-C3EB620C1CCC}"/>
          </ac:spMkLst>
        </pc:spChg>
        <pc:spChg chg="add mod">
          <ac:chgData name="charan saii" userId="2ed84450487bf534" providerId="LiveId" clId="{7C0A16CD-D1A1-47E0-91A7-7842440A4866}" dt="2026-06-05T09:49:35.595" v="6" actId="1035"/>
          <ac:spMkLst>
            <pc:docMk/>
            <pc:sldMk cId="0" sldId="320"/>
            <ac:spMk id="4" creationId="{8C63A645-934F-88F5-CA66-AF4F0303F810}"/>
          </ac:spMkLst>
        </pc:spChg>
        <pc:spChg chg="del mod">
          <ac:chgData name="charan saii" userId="2ed84450487bf534" providerId="LiveId" clId="{7C0A16CD-D1A1-47E0-91A7-7842440A4866}" dt="2026-06-05T09:49:34.049" v="5"/>
          <ac:spMkLst>
            <pc:docMk/>
            <pc:sldMk cId="0" sldId="320"/>
            <ac:spMk id="6" creationId="{DEC677EB-3C69-1E22-5FF9-F70E3FD9963F}"/>
          </ac:spMkLst>
        </pc:spChg>
      </pc:sldChg>
      <pc:sldChg chg="addSp modSp mod">
        <pc:chgData name="charan saii" userId="2ed84450487bf534" providerId="LiveId" clId="{7C0A16CD-D1A1-47E0-91A7-7842440A4866}" dt="2026-06-05T09:50:54.689" v="13"/>
        <pc:sldMkLst>
          <pc:docMk/>
          <pc:sldMk cId="2608133527" sldId="323"/>
        </pc:sldMkLst>
        <pc:spChg chg="mod">
          <ac:chgData name="charan saii" userId="2ed84450487bf534" providerId="LiveId" clId="{7C0A16CD-D1A1-47E0-91A7-7842440A4866}" dt="2026-06-05T09:49:48.271" v="9" actId="27636"/>
          <ac:spMkLst>
            <pc:docMk/>
            <pc:sldMk cId="2608133527" sldId="323"/>
            <ac:spMk id="5" creationId="{BA1E6E8A-A995-51F8-4B85-FB8AFDAF84E6}"/>
          </ac:spMkLst>
        </pc:spChg>
        <pc:picChg chg="add mod">
          <ac:chgData name="charan saii" userId="2ed84450487bf534" providerId="LiveId" clId="{7C0A16CD-D1A1-47E0-91A7-7842440A4866}" dt="2026-06-05T09:50:54.689" v="13"/>
          <ac:picMkLst>
            <pc:docMk/>
            <pc:sldMk cId="2608133527" sldId="323"/>
            <ac:picMk id="3" creationId="{ACC56D91-D15E-D19B-65E9-139E885E5E4F}"/>
          </ac:picMkLst>
        </pc:picChg>
      </pc:sldChg>
      <pc:sldChg chg="modSp mod">
        <pc:chgData name="charan saii" userId="2ed84450487bf534" providerId="LiveId" clId="{7C0A16CD-D1A1-47E0-91A7-7842440A4866}" dt="2026-06-05T09:49:42.286" v="7" actId="20577"/>
        <pc:sldMkLst>
          <pc:docMk/>
          <pc:sldMk cId="2610488094" sldId="324"/>
        </pc:sldMkLst>
        <pc:spChg chg="mod">
          <ac:chgData name="charan saii" userId="2ed84450487bf534" providerId="LiveId" clId="{7C0A16CD-D1A1-47E0-91A7-7842440A4866}" dt="2026-06-05T09:49:42.286" v="7" actId="20577"/>
          <ac:spMkLst>
            <pc:docMk/>
            <pc:sldMk cId="2610488094" sldId="324"/>
            <ac:spMk id="4" creationId="{2270A7B1-AE81-675E-BE7D-3D5A36D1C3B2}"/>
          </ac:spMkLst>
        </pc:spChg>
      </pc:sldChg>
      <pc:sldChg chg="addSp delSp modSp mod">
        <pc:chgData name="charan saii" userId="2ed84450487bf534" providerId="LiveId" clId="{7C0A16CD-D1A1-47E0-91A7-7842440A4866}" dt="2026-06-05T09:51:59.682" v="17" actId="14100"/>
        <pc:sldMkLst>
          <pc:docMk/>
          <pc:sldMk cId="2703969509" sldId="326"/>
        </pc:sldMkLst>
        <pc:spChg chg="del mod">
          <ac:chgData name="charan saii" userId="2ed84450487bf534" providerId="LiveId" clId="{7C0A16CD-D1A1-47E0-91A7-7842440A4866}" dt="2026-06-05T09:50:38.171" v="11" actId="22"/>
          <ac:spMkLst>
            <pc:docMk/>
            <pc:sldMk cId="2703969509" sldId="326"/>
            <ac:spMk id="5" creationId="{1C7B0B59-E773-3598-767E-554F3BF62EB8}"/>
          </ac:spMkLst>
        </pc:spChg>
        <pc:spChg chg="add mod">
          <ac:chgData name="charan saii" userId="2ed84450487bf534" providerId="LiveId" clId="{7C0A16CD-D1A1-47E0-91A7-7842440A4866}" dt="2026-06-05T09:50:52.084" v="12" actId="478"/>
          <ac:spMkLst>
            <pc:docMk/>
            <pc:sldMk cId="2703969509" sldId="326"/>
            <ac:spMk id="8" creationId="{AF01664F-A9B7-C87D-EED9-D16B4901708A}"/>
          </ac:spMkLst>
        </pc:spChg>
        <pc:picChg chg="add del mod ord">
          <ac:chgData name="charan saii" userId="2ed84450487bf534" providerId="LiveId" clId="{7C0A16CD-D1A1-47E0-91A7-7842440A4866}" dt="2026-06-05T09:50:52.084" v="12" actId="478"/>
          <ac:picMkLst>
            <pc:docMk/>
            <pc:sldMk cId="2703969509" sldId="326"/>
            <ac:picMk id="6" creationId="{3DEBEFC0-A9A8-9EBB-1AB6-56C8F6F468C7}"/>
          </ac:picMkLst>
        </pc:picChg>
        <pc:picChg chg="add mod">
          <ac:chgData name="charan saii" userId="2ed84450487bf534" providerId="LiveId" clId="{7C0A16CD-D1A1-47E0-91A7-7842440A4866}" dt="2026-06-05T09:51:59.682" v="17" actId="14100"/>
          <ac:picMkLst>
            <pc:docMk/>
            <pc:sldMk cId="2703969509" sldId="326"/>
            <ac:picMk id="10" creationId="{2A1F165F-BDA6-4105-FA1A-29FACA54868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6/17/2026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extLst>
      <p:ext uri="{BB962C8B-B14F-4D97-AF65-F5344CB8AC3E}">
        <p14:creationId xmlns:p14="http://schemas.microsoft.com/office/powerpoint/2010/main" val="777102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6/17/2026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r>
              <a:rPr lang="en-US" sz="1800" b="0" dirty="0">
                <a:solidFill>
                  <a:schemeClr val="tx1"/>
                </a:solidFill>
                <a:latin typeface="Times New Roman" pitchFamily="18" charset="0"/>
                <a:cs typeface="Times New Roman" pitchFamily="18" charset="0"/>
              </a:rPr>
              <a:t/>
            </a: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r>
              <a:rPr lang="en-US" sz="1800" b="0" dirty="0">
                <a:solidFill>
                  <a:schemeClr val="tx1"/>
                </a:solidFill>
                <a:latin typeface="Times New Roman" pitchFamily="18" charset="0"/>
                <a:cs typeface="Times New Roman" pitchFamily="18" charset="0"/>
              </a:rPr>
              <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Hotel Room Booking Engine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K.GIREESH                                   2520090215</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Name  CH.CHARAN SAI                         2520030321</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23</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P. Nirmala Jyothi</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xmlns=""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xmlns=""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xmlns=""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xmlns="" id="{44F074E8-72E0-E39A-EEE7-DFD44C874186}"/>
              </a:ext>
            </a:extLst>
          </p:cNvPr>
          <p:cNvSpPr>
            <a:spLocks noGrp="1"/>
          </p:cNvSpPr>
          <p:nvPr>
            <p:ph idx="1"/>
          </p:nvPr>
        </p:nvSpPr>
        <p:spPr>
          <a:xfrm>
            <a:off x="457200" y="1417639"/>
            <a:ext cx="8229600" cy="4708526"/>
          </a:xfrm>
        </p:spPr>
        <p:txBody>
          <a:bodyPr/>
          <a:lstStyle/>
          <a:p>
            <a:pPr algn="l">
              <a:lnSpc>
                <a:spcPts val="2400"/>
              </a:lnSpc>
            </a:pPr>
            <a:r>
              <a:rPr lang="en-US" sz="1800" dirty="0">
                <a:latin typeface="Times New Roman" pitchFamily="18" charset="0"/>
              </a:rPr>
              <a:t>The Hotel Room Booking Engine is a web-based application designed to streamline the process of searching, selecting, and reserving hotel rooms online. The system provides a user-friendly interface for customers to browse available hotels, view room details, check real-time availability, and complete secure bookings.</a:t>
            </a:r>
          </a:p>
          <a:p>
            <a:pPr algn="l">
              <a:lnSpc>
                <a:spcPts val="2400"/>
              </a:lnSpc>
            </a:pPr>
            <a:r>
              <a:rPr lang="en-US" sz="1800" dirty="0">
                <a:latin typeface="Times New Roman" pitchFamily="18" charset="0"/>
              </a:rPr>
              <a:t>The platform integrates core functionalities including user registration and login, hotel and room listings with filters, booking management, payment processing, and an admin dashboard for hotel managers to manage inventory and reservations.</a:t>
            </a:r>
          </a:p>
          <a:p>
            <a:pPr algn="l">
              <a:lnSpc>
                <a:spcPts val="2400"/>
              </a:lnSpc>
            </a:pPr>
            <a:r>
              <a:rPr lang="en-US" sz="1800" dirty="0">
                <a:latin typeface="Times New Roman" pitchFamily="18" charset="0"/>
              </a:rPr>
              <a:t>Built using modern web technologies (React.js for frontend, Node.js/Express for backend, and MySQL for database), the project aims to deliver a scalable, responsive, and secure booking experience that bridges the gap between travelers and hotels effectively.</a:t>
            </a:r>
          </a:p>
          <a:p>
            <a:endParaRPr lang="en-US"/>
          </a:p>
        </p:txBody>
      </p:sp>
      <p:pic>
        <p:nvPicPr>
          <p:cNvPr id="3" name="Picture 2">
            <a:extLst>
              <a:ext uri="{FF2B5EF4-FFF2-40B4-BE49-F238E27FC236}">
                <a16:creationId xmlns:a16="http://schemas.microsoft.com/office/drawing/2014/main" xmlns=""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xmlns="" id="{D37586B6-5276-B3E3-CFD5-8DB648A7A841}"/>
              </a:ext>
            </a:extLst>
          </p:cNvPr>
          <p:cNvSpPr>
            <a:spLocks noGrp="1"/>
          </p:cNvSpPr>
          <p:nvPr>
            <p:ph idx="1"/>
          </p:nvPr>
        </p:nvSpPr>
        <p:spPr/>
        <p:txBody>
          <a:bodyPr/>
          <a:lstStyle/>
          <a:p>
            <a:pPr algn="l">
              <a:lnSpc>
                <a:spcPts val="2200"/>
              </a:lnSpc>
            </a:pPr>
            <a:r>
              <a:rPr lang="en-US" sz="1800" dirty="0">
                <a:latin typeface="Times New Roman" pitchFamily="18" charset="0"/>
              </a:rPr>
              <a:t>The Hotel Room Booking Engine is designed to address the growing demand for digital hospitality solutions. In today's fast-paced travel environment, customers expect instant, convenient, and reliable hotel booking services accessible from any device.</a:t>
            </a:r>
          </a:p>
          <a:p>
            <a:pPr algn="l">
              <a:lnSpc>
                <a:spcPts val="2200"/>
              </a:lnSpc>
            </a:pPr>
            <a:r>
              <a:rPr lang="en-US" sz="1800" dirty="0">
                <a:latin typeface="Times New Roman" pitchFamily="18" charset="0"/>
              </a:rPr>
              <a:t>Traditional hotel booking methods—phone calls, walk-ins, and third-party agencies—are time-consuming, error-prone, and lack real-time data. This project replaces those methods with a centralized, automated web platform.</a:t>
            </a:r>
          </a:p>
          <a:p>
            <a:pPr algn="l">
              <a:lnSpc>
                <a:spcPts val="2200"/>
              </a:lnSpc>
            </a:pPr>
            <a:r>
              <a:rPr lang="en-US" sz="1800" dirty="0">
                <a:latin typeface="Times New Roman" pitchFamily="18" charset="0"/>
              </a:rPr>
              <a:t>The system targets three key user groups: (1) Travelers who need a seamless search-to-checkout experience; (2) Hotel Administrators who manage room inventory and reservations; and (3) System Admins who oversee platform operations.</a:t>
            </a:r>
          </a:p>
          <a:p>
            <a:pPr algn="l">
              <a:lnSpc>
                <a:spcPts val="2200"/>
              </a:lnSpc>
            </a:pPr>
            <a:r>
              <a:rPr lang="en-US" sz="1800" dirty="0">
                <a:latin typeface="Times New Roman" pitchFamily="18" charset="0"/>
              </a:rPr>
              <a:t>Technologies used: React.js (Frontend), Node.js + Express.js (Backend), MySQL (Database), JWT (Authentication), Stripe API (Payment Gateway), and RESTful APIs for data communication between layers.</a:t>
            </a:r>
          </a:p>
          <a:p>
            <a:endParaRPr lang="en-US"/>
          </a:p>
        </p:txBody>
      </p:sp>
      <p:pic>
        <p:nvPicPr>
          <p:cNvPr id="3" name="Picture 2">
            <a:extLst>
              <a:ext uri="{FF2B5EF4-FFF2-40B4-BE49-F238E27FC236}">
                <a16:creationId xmlns:a16="http://schemas.microsoft.com/office/drawing/2014/main" xmlns=""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r>
              <a:rPr lang="en-US" b="1" dirty="0">
                <a:solidFill>
                  <a:srgbClr val="0070C0"/>
                </a:solidFill>
                <a:latin typeface="Times New Roman" pitchFamily="18" charset="0"/>
                <a:cs typeface="Times New Roman" pitchFamily="18" charset="0"/>
              </a:rPr>
              <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xmlns="" id="{FAD7B1E9-20DA-C5AF-B180-FACA7043610C}"/>
              </a:ext>
            </a:extLst>
          </p:cNvPr>
          <p:cNvSpPr>
            <a:spLocks noGrp="1"/>
          </p:cNvSpPr>
          <p:nvPr>
            <p:ph idx="1"/>
          </p:nvPr>
        </p:nvSpPr>
        <p:spPr/>
        <p:txBody>
          <a:bodyPr/>
          <a:lstStyle/>
          <a:p>
            <a:pPr algn="l">
              <a:lnSpc>
                <a:spcPts val="2200"/>
              </a:lnSpc>
            </a:pPr>
            <a:r>
              <a:rPr lang="en-US" sz="1800" dirty="0">
                <a:latin typeface="Times New Roman" pitchFamily="18" charset="0"/>
              </a:rPr>
              <a:t>The hospitality industry faces significant challenges with outdated and fragmented booking systems. Customers often encounter difficulties in finding and comparing hotel rooms in real-time, leading to poor user experiences and lost revenue.</a:t>
            </a:r>
          </a:p>
          <a:p>
            <a:pPr algn="l">
              <a:lnSpc>
                <a:spcPts val="2200"/>
              </a:lnSpc>
            </a:pPr>
            <a:r>
              <a:rPr lang="en-US" sz="1800" dirty="0">
                <a:latin typeface="Times New Roman" pitchFamily="18" charset="0"/>
              </a:rPr>
              <a:t>Existing problems include: (1) No centralized platform for real-time room availability lookup; (2) Manual booking processes causing double-bookings and errors; (3) Lack of transparent pricing and room details for informed decision-making.</a:t>
            </a:r>
          </a:p>
          <a:p>
            <a:pPr algn="l">
              <a:lnSpc>
                <a:spcPts val="2200"/>
              </a:lnSpc>
            </a:pPr>
            <a:r>
              <a:rPr lang="en-US" sz="1800" dirty="0">
                <a:latin typeface="Times New Roman" pitchFamily="18" charset="0"/>
              </a:rPr>
              <a:t>Hotel managers struggle with manual inventory management, resulting in overbooking, revenue loss, and poor customer satisfaction. There is an urgent need for an automated, reliable, and scalable booking engine.</a:t>
            </a:r>
          </a:p>
          <a:p>
            <a:pPr algn="l">
              <a:lnSpc>
                <a:spcPts val="2200"/>
              </a:lnSpc>
            </a:pPr>
            <a:r>
              <a:rPr lang="en-US" sz="1800" dirty="0">
                <a:latin typeface="Times New Roman" pitchFamily="18" charset="0"/>
              </a:rPr>
              <a:t>This project proposes a web-based Hotel Room Booking Engine that eliminates these pain points by providing real-time availability, automated booking confirmation, secure payment handling, and centralized hotel management tools.</a:t>
            </a:r>
          </a:p>
          <a:p>
            <a:endParaRPr lang="en-US"/>
          </a:p>
        </p:txBody>
      </p:sp>
      <p:pic>
        <p:nvPicPr>
          <p:cNvPr id="3" name="Picture 2">
            <a:extLst>
              <a:ext uri="{FF2B5EF4-FFF2-40B4-BE49-F238E27FC236}">
                <a16:creationId xmlns:a16="http://schemas.microsoft.com/office/drawing/2014/main" xmlns=""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550BF7C-4E42-3323-319A-9E8717B94BB8}"/>
              </a:ext>
            </a:extLst>
          </p:cNvPr>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3" name="Picture 2">
            <a:extLst>
              <a:ext uri="{FF2B5EF4-FFF2-40B4-BE49-F238E27FC236}">
                <a16:creationId xmlns:a16="http://schemas.microsoft.com/office/drawing/2014/main" xmlns=""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
        <p:nvSpPr>
          <p:cNvPr id="8" name="Content Placeholder 7">
            <a:extLst>
              <a:ext uri="{FF2B5EF4-FFF2-40B4-BE49-F238E27FC236}">
                <a16:creationId xmlns:a16="http://schemas.microsoft.com/office/drawing/2014/main" xmlns="" id="{AF01664F-A9B7-C87D-EED9-D16B4901708A}"/>
              </a:ext>
            </a:extLst>
          </p:cNvPr>
          <p:cNvSpPr>
            <a:spLocks noGrp="1"/>
          </p:cNvSpPr>
          <p:nvPr>
            <p:ph idx="1"/>
          </p:nvPr>
        </p:nvSpPr>
        <p:spPr/>
        <p:txBody>
          <a:bodyPr/>
          <a:lstStyle/>
          <a:p>
            <a:endParaRPr lang="en-IN"/>
          </a:p>
        </p:txBody>
      </p:sp>
      <p:pic>
        <p:nvPicPr>
          <p:cNvPr id="10" name="Picture 9">
            <a:extLst>
              <a:ext uri="{FF2B5EF4-FFF2-40B4-BE49-F238E27FC236}">
                <a16:creationId xmlns:a16="http://schemas.microsoft.com/office/drawing/2014/main" xmlns="" id="{2A1F165F-BDA6-4105-FA1A-29FACA548683}"/>
              </a:ext>
            </a:extLst>
          </p:cNvPr>
          <p:cNvPicPr>
            <a:picLocks noChangeAspect="1"/>
          </p:cNvPicPr>
          <p:nvPr/>
        </p:nvPicPr>
        <p:blipFill>
          <a:blip r:embed="rId3"/>
          <a:stretch>
            <a:fillRect/>
          </a:stretch>
        </p:blipFill>
        <p:spPr>
          <a:xfrm>
            <a:off x="762000" y="990600"/>
            <a:ext cx="7848599" cy="5867400"/>
          </a:xfrm>
          <a:prstGeom prst="rect">
            <a:avLst/>
          </a:prstGeom>
        </p:spPr>
      </p:pic>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r>
              <a:rPr lang="en-US" b="1" dirty="0">
                <a:solidFill>
                  <a:srgbClr val="0070C0"/>
                </a:solidFill>
                <a:latin typeface="Times New Roman" pitchFamily="18" charset="0"/>
                <a:cs typeface="Times New Roman" pitchFamily="18" charset="0"/>
              </a:rPr>
              <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xmlns="" id="{B9E92AC0-5ACE-1D58-9D37-96B7B27D659A}"/>
              </a:ext>
            </a:extLst>
          </p:cNvPr>
          <p:cNvSpPr>
            <a:spLocks noGrp="1"/>
          </p:cNvSpPr>
          <p:nvPr>
            <p:ph idx="1"/>
          </p:nvPr>
        </p:nvSpPr>
        <p:spPr>
          <a:xfrm>
            <a:off x="457200" y="1295401"/>
            <a:ext cx="8229600" cy="4830764"/>
          </a:xfrm>
        </p:spPr>
        <p:txBody>
          <a:bodyPr/>
          <a:lstStyle/>
          <a:p>
            <a:pPr marL="457200" indent="-457200" algn="l">
              <a:lnSpc>
                <a:spcPts val="2200"/>
              </a:lnSpc>
              <a:buChar char="•"/>
            </a:pPr>
            <a:r>
              <a:rPr lang="en-US" sz="1800" b="0" dirty="0">
                <a:latin typeface="Times New Roman" pitchFamily="18" charset="0"/>
              </a:rPr>
              <a:t>Real-Time Room Availability — Prevent double-bookings and provide accurate inventory; critical for maintaining customer trust and hotel operational efficiency.</a:t>
            </a:r>
          </a:p>
          <a:p>
            <a:pPr marL="457200" indent="-457200" algn="l">
              <a:lnSpc>
                <a:spcPts val="2200"/>
              </a:lnSpc>
              <a:buChar char="•"/>
            </a:pPr>
            <a:r>
              <a:rPr lang="en-US" sz="1800" b="0" dirty="0">
                <a:latin typeface="Times New Roman" pitchFamily="18" charset="0"/>
              </a:rPr>
              <a:t>Secure User Authentication (JWT) — Protect personal and payment data with token-based sessions; ensures data privacy and personalized booking history.</a:t>
            </a:r>
          </a:p>
          <a:p>
            <a:pPr marL="457200" indent="-457200" algn="l">
              <a:lnSpc>
                <a:spcPts val="2200"/>
              </a:lnSpc>
              <a:buChar char="•"/>
            </a:pPr>
            <a:r>
              <a:rPr lang="en-US" sz="1800" b="0" dirty="0">
                <a:latin typeface="Times New Roman" pitchFamily="18" charset="0"/>
              </a:rPr>
              <a:t>Advanced Search with Filters — Enable travelers to narrow results by price, rating, amenities; reduces search friction and improves booking conversion rates.</a:t>
            </a:r>
          </a:p>
          <a:p>
            <a:pPr marL="457200" indent="-457200" algn="l">
              <a:lnSpc>
                <a:spcPts val="2200"/>
              </a:lnSpc>
              <a:buChar char="•"/>
            </a:pPr>
            <a:r>
              <a:rPr lang="en-US" sz="1800" b="0" dirty="0">
                <a:latin typeface="Times New Roman" pitchFamily="18" charset="0"/>
              </a:rPr>
              <a:t>Stripe Payment Gateway Integration — Provide safe and seamless checkout; real-time payment validation with instant booking confirmation emails.</a:t>
            </a:r>
          </a:p>
          <a:p>
            <a:pPr marL="457200" indent="-457200" algn="l">
              <a:lnSpc>
                <a:spcPts val="2200"/>
              </a:lnSpc>
              <a:buChar char="•"/>
            </a:pPr>
            <a:r>
              <a:rPr lang="en-US" sz="1800" b="0" dirty="0">
                <a:latin typeface="Times New Roman" pitchFamily="18" charset="0"/>
              </a:rPr>
              <a:t>Admin Dashboard for Hotel Management — Empower hotel staff to manage room inventory, view reservations, and analyze occupancy without technical expertise.</a:t>
            </a:r>
          </a:p>
          <a:p>
            <a:pPr marL="457200" indent="-457200" algn="l">
              <a:lnSpc>
                <a:spcPts val="2200"/>
              </a:lnSpc>
              <a:buChar char="•"/>
            </a:pPr>
            <a:r>
              <a:rPr lang="en-US" sz="1800" b="0" dirty="0">
                <a:latin typeface="Times New Roman" pitchFamily="18" charset="0"/>
              </a:rPr>
              <a:t>Cross-Device Responsive Design — Ensure full functionality on desktop, tablet, and mobile; modern travelers frequently book on smartphones.</a:t>
            </a:r>
          </a:p>
          <a:p>
            <a:pPr marL="457200" indent="-457200" algn="l">
              <a:lnSpc>
                <a:spcPts val="2200"/>
              </a:lnSpc>
              <a:buChar char="•"/>
            </a:pPr>
            <a:r>
              <a:rPr lang="en-US" sz="1800" b="0" dirty="0">
                <a:latin typeface="Times New Roman" pitchFamily="18" charset="0"/>
              </a:rPr>
              <a:t>Scalable RESTful API Architecture — Support system growth as hotel count and user base increases; allows future mobile app and third-party integrations.</a:t>
            </a:r>
          </a:p>
          <a:p>
            <a:endParaRPr lang="en-US" dirty="0"/>
          </a:p>
        </p:txBody>
      </p:sp>
      <p:pic>
        <p:nvPicPr>
          <p:cNvPr id="4" name="Picture 3">
            <a:extLst>
              <a:ext uri="{FF2B5EF4-FFF2-40B4-BE49-F238E27FC236}">
                <a16:creationId xmlns:a16="http://schemas.microsoft.com/office/drawing/2014/main" xmlns=""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xmlns="" id="{BA1E6E8A-A995-51F8-4B85-FB8AFDAF84E6}"/>
              </a:ext>
            </a:extLst>
          </p:cNvPr>
          <p:cNvSpPr>
            <a:spLocks noGrp="1"/>
          </p:cNvSpPr>
          <p:nvPr>
            <p:ph idx="1"/>
          </p:nvPr>
        </p:nvSpPr>
        <p:spPr/>
        <p:txBody>
          <a:bodyPr>
            <a:normAutofit/>
          </a:bodyPr>
          <a:lstStyle/>
          <a:p>
            <a:endParaRPr lang="en-US" dirty="0"/>
          </a:p>
        </p:txBody>
      </p:sp>
      <p:pic>
        <p:nvPicPr>
          <p:cNvPr id="4" name="Picture 3">
            <a:extLst>
              <a:ext uri="{FF2B5EF4-FFF2-40B4-BE49-F238E27FC236}">
                <a16:creationId xmlns:a16="http://schemas.microsoft.com/office/drawing/2014/main" xmlns=""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pic>
        <p:nvPicPr>
          <p:cNvPr id="3" name="Content Placeholder 5">
            <a:extLst>
              <a:ext uri="{FF2B5EF4-FFF2-40B4-BE49-F238E27FC236}">
                <a16:creationId xmlns:a16="http://schemas.microsoft.com/office/drawing/2014/main" xmlns="" id="{ACC56D91-D15E-D19B-65E9-139E885E5E4F}"/>
              </a:ext>
            </a:extLst>
          </p:cNvPr>
          <p:cNvPicPr>
            <a:picLocks noChangeAspect="1"/>
          </p:cNvPicPr>
          <p:nvPr/>
        </p:nvPicPr>
        <p:blipFill>
          <a:blip r:embed="rId3"/>
          <a:stretch>
            <a:fillRect/>
          </a:stretch>
        </p:blipFill>
        <p:spPr>
          <a:xfrm>
            <a:off x="603777" y="1600200"/>
            <a:ext cx="7936446" cy="4525963"/>
          </a:xfrm>
          <a:prstGeom prst="rect">
            <a:avLst/>
          </a:prstGeom>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r>
              <a:rPr lang="en-US" b="1" dirty="0">
                <a:solidFill>
                  <a:srgbClr val="0070C0"/>
                </a:solidFill>
                <a:latin typeface="Times New Roman" pitchFamily="18" charset="0"/>
                <a:cs typeface="Times New Roman" pitchFamily="18" charset="0"/>
              </a:rPr>
              <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xmlns=""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7200" y="1730238"/>
            <a:ext cx="8229600" cy="380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xmlns="" id="{4422A072-7E3B-BDEF-9B7B-27625990219B}"/>
              </a:ext>
            </a:extLst>
          </p:cNvPr>
          <p:cNvSpPr>
            <a:spLocks noGrp="1"/>
          </p:cNvSpPr>
          <p:nvPr>
            <p:ph idx="1"/>
          </p:nvPr>
        </p:nvSpPr>
        <p:spPr>
          <a:xfrm>
            <a:off x="457200" y="1050925"/>
            <a:ext cx="8229600" cy="5075239"/>
          </a:xfrm>
        </p:spPr>
        <p:txBody>
          <a:bodyPr/>
          <a:lstStyle/>
          <a:p>
            <a:pPr algn="l">
              <a:lnSpc>
                <a:spcPts val="2200"/>
              </a:lnSpc>
            </a:pPr>
            <a:r>
              <a:rPr lang="en-US" sz="1800" dirty="0">
                <a:latin typeface="Times New Roman" pitchFamily="18" charset="0"/>
              </a:rPr>
              <a:t>Conclusion: The Hotel Room Booking Engine successfully addresses the core challenges of traditional hotel reservation systems. By delivering a centralized, automated, and user-friendly platform, the project bridges the gap between travelers and hotel operators through real-time bookings, secure payments, and efficient admin control.</a:t>
            </a:r>
          </a:p>
          <a:p>
            <a:pPr algn="l">
              <a:lnSpc>
                <a:spcPts val="2200"/>
              </a:lnSpc>
            </a:pPr>
            <a:r>
              <a:rPr lang="en-US" sz="1800" dirty="0">
                <a:latin typeface="Times New Roman" pitchFamily="18" charset="0"/>
              </a:rPr>
              <a:t>The system was built using React.js, Node.js/Express, MySQL, JWT, and Stripe — ensuring a maintainable, performant, and scalable architecture. All primary objectives have been met: real-time availability, secure authentication, payment integration, and a fully functional admin dashboard.</a:t>
            </a:r>
          </a:p>
          <a:p>
            <a:pPr algn="l">
              <a:lnSpc>
                <a:spcPts val="2200"/>
              </a:lnSpc>
            </a:pPr>
            <a:r>
              <a:rPr lang="en-US" sz="1800" dirty="0">
                <a:latin typeface="Times New Roman" pitchFamily="18" charset="0"/>
              </a:rPr>
              <a:t>Future Scope: (1) Native Mobile App (React Native) for iOS and Android; (2) AI-based Hotel Recommendation Engine using user history; (3) Multi-language and Multi-currency Support for international users; (4) Guest Review and Rating Module post-stay; (5) Dynamic Pricing based on seasonal demand; (6) Third-party Booking Platform API Integration (Booking.com, Expedia).</a:t>
            </a:r>
          </a:p>
          <a:p>
            <a:endParaRPr lang="en-US" dirty="0"/>
          </a:p>
        </p:txBody>
      </p:sp>
      <p:pic>
        <p:nvPicPr>
          <p:cNvPr id="3" name="Picture 2">
            <a:extLst>
              <a:ext uri="{FF2B5EF4-FFF2-40B4-BE49-F238E27FC236}">
                <a16:creationId xmlns:a16="http://schemas.microsoft.com/office/drawing/2014/main" xmlns=""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xmlns=""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4" name="Rectangle 2">
            <a:extLst>
              <a:ext uri="{FF2B5EF4-FFF2-40B4-BE49-F238E27FC236}">
                <a16:creationId xmlns:a16="http://schemas.microsoft.com/office/drawing/2014/main" xmlns="" id="{8C63A645-934F-88F5-CA66-AF4F0303F810}"/>
              </a:ext>
            </a:extLst>
          </p:cNvPr>
          <p:cNvSpPr>
            <a:spLocks noGrp="1" noChangeArrowheads="1"/>
          </p:cNvSpPr>
          <p:nvPr>
            <p:ph idx="1"/>
          </p:nvPr>
        </p:nvSpPr>
        <p:spPr bwMode="auto">
          <a:xfrm>
            <a:off x="457200" y="15240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React Docs – react.dev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MDN JavaScript – developer.mozilla.org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TypeScript Docs – typescriptlang.org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Vite Docs – vitejs.dev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Jest Docs – jestjs.io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W3Schools React – w3schools.com/react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GeeksforGeeks – geeksforgeeks.org/reactjs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Roadtoreact – roadtoreact.com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xmlns=""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1824</TotalTime>
  <Words>880</Words>
  <Application>Microsoft Office PowerPoint</Application>
  <PresentationFormat>On-screen Show (4:3)</PresentationFormat>
  <Paragraphs>70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 A Project Review Meeting    on  Hotel Room Booking Engine </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ASHOK</cp:lastModifiedBy>
  <cp:revision>198</cp:revision>
  <dcterms:created xsi:type="dcterms:W3CDTF">2006-08-16T00:00:00Z</dcterms:created>
  <dcterms:modified xsi:type="dcterms:W3CDTF">2026-06-17T05:33:29Z</dcterms:modified>
</cp:coreProperties>
</file>